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YGFsu2m1eKEOPfDAcToqcssP0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6.jp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37564" y="476115"/>
            <a:ext cx="38790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Online application conversion</a:t>
            </a:r>
            <a:endParaRPr b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6076" y="1332808"/>
            <a:ext cx="657912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Commercial Context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existing budget and volumes increasing to 60% conversion could bring in an additional 4,500 new customers annually. 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Context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conversion number is broadly between 50% and 70% for low and medium risk products (eg deposit and tran accounts).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context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Joining the bank and the experience underpinning is a ‘core CX moment of truth’ that can ‘validate’ a customer intent to switch and help set up customer for a sustainable relationship.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638091" y="6510334"/>
            <a:ext cx="136127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appendix ‘Data Sources’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5195" y="1332808"/>
            <a:ext cx="3978514" cy="2469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7525195" y="3802311"/>
            <a:ext cx="387157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AU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Online application conversion rates, measured to submitted application</a:t>
            </a:r>
            <a:endParaRPr i="1"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637564" y="476115"/>
            <a:ext cx="46880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Online application conversion</a:t>
            </a:r>
            <a:b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All online deposit accounts, new customers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2008192" y="795919"/>
            <a:ext cx="9776277" cy="5418667"/>
            <a:chOff x="4" y="0"/>
            <a:chExt cx="9776277" cy="5418667"/>
          </a:xfrm>
        </p:grpSpPr>
        <p:sp>
          <p:nvSpPr>
            <p:cNvPr id="96" name="Google Shape;96;p2"/>
            <p:cNvSpPr/>
            <p:nvPr/>
          </p:nvSpPr>
          <p:spPr>
            <a:xfrm>
              <a:off x="4" y="0"/>
              <a:ext cx="9776277" cy="5418667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909" y="1625600"/>
              <a:ext cx="1221557" cy="2167466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61540" y="1685231"/>
              <a:ext cx="1102295" cy="2048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 starts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427060" y="1625730"/>
              <a:ext cx="1221557" cy="2167206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486691" y="1685361"/>
              <a:ext cx="1102295" cy="2047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Personal details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852211" y="1625600"/>
              <a:ext cx="1221557" cy="2167466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2911842" y="1685231"/>
              <a:ext cx="1102295" cy="2048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Check your details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277362" y="1625600"/>
              <a:ext cx="1221557" cy="2167466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4336993" y="1685231"/>
              <a:ext cx="1102295" cy="2048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 details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702512" y="1625600"/>
              <a:ext cx="1221557" cy="2167466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5762143" y="1685231"/>
              <a:ext cx="1102295" cy="2048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 submitted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127663" y="1625600"/>
              <a:ext cx="1221557" cy="2167466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7187294" y="1685231"/>
              <a:ext cx="1102295" cy="2048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Account open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8552814" y="1625600"/>
              <a:ext cx="1221557" cy="2167466"/>
            </a:xfrm>
            <a:prstGeom prst="roundRect">
              <a:avLst>
                <a:gd fmla="val 16667" name="adj"/>
              </a:avLst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8612445" y="1685231"/>
              <a:ext cx="1102295" cy="2048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AU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Account activated</a:t>
              </a:r>
              <a:endParaRPr b="1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5185195" y="2573234"/>
            <a:ext cx="58381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43%</a:t>
            </a:r>
            <a:b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813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067227" y="2573235"/>
            <a:ext cx="58381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39%</a:t>
            </a:r>
            <a:b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736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947473" y="2573235"/>
            <a:ext cx="46679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4%</a:t>
            </a:r>
            <a:br>
              <a:rPr lang="en-AU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625279" y="2573235"/>
            <a:ext cx="58381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b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739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458718" y="2573235"/>
            <a:ext cx="58381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23%</a:t>
            </a:r>
            <a:b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439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3744310" y="2573234"/>
            <a:ext cx="58381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47%</a:t>
            </a:r>
            <a:b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888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281960" y="2573234"/>
            <a:ext cx="70083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b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1,890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9238492" y="6510334"/>
            <a:ext cx="29738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*% lost is relative between the stages. See appendix ‘Data Sources’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8515391" y="5217780"/>
            <a:ext cx="1055552" cy="103569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 opening</a:t>
            </a:r>
            <a:b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(40%* lost)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2"/>
          <p:cNvCxnSpPr>
            <a:endCxn id="119" idx="0"/>
          </p:cNvCxnSpPr>
          <p:nvPr/>
        </p:nvCxnSpPr>
        <p:spPr>
          <a:xfrm flipH="1">
            <a:off x="9043167" y="3793980"/>
            <a:ext cx="1800" cy="1423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" name="Google Shape;121;p2"/>
          <p:cNvSpPr/>
          <p:nvPr/>
        </p:nvSpPr>
        <p:spPr>
          <a:xfrm>
            <a:off x="9939768" y="5217780"/>
            <a:ext cx="1055552" cy="103569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b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(82%* lost)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2"/>
          <p:cNvCxnSpPr>
            <a:endCxn id="121" idx="0"/>
          </p:cNvCxnSpPr>
          <p:nvPr/>
        </p:nvCxnSpPr>
        <p:spPr>
          <a:xfrm flipH="1">
            <a:off x="10467544" y="3793980"/>
            <a:ext cx="1800" cy="1423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" name="Google Shape;123;p2"/>
          <p:cNvSpPr/>
          <p:nvPr/>
        </p:nvSpPr>
        <p:spPr>
          <a:xfrm>
            <a:off x="2814182" y="5217780"/>
            <a:ext cx="1055552" cy="103569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</a:t>
            </a:r>
            <a:b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(53%* lost)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2"/>
          <p:cNvCxnSpPr>
            <a:endCxn id="123" idx="0"/>
          </p:cNvCxnSpPr>
          <p:nvPr/>
        </p:nvCxnSpPr>
        <p:spPr>
          <a:xfrm flipH="1">
            <a:off x="3341958" y="3793980"/>
            <a:ext cx="1800" cy="1423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" name="Google Shape;125;p2"/>
          <p:cNvSpPr/>
          <p:nvPr/>
        </p:nvSpPr>
        <p:spPr>
          <a:xfrm>
            <a:off x="589732" y="2456953"/>
            <a:ext cx="1221557" cy="2110331"/>
          </a:xfrm>
          <a:prstGeom prst="roundRect">
            <a:avLst>
              <a:gd fmla="val 19278" name="adj"/>
            </a:avLst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793534" y="3219730"/>
            <a:ext cx="8538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visits</a:t>
            </a:r>
            <a:endParaRPr b="1"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67113" y="2573233"/>
            <a:ext cx="46679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AU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26,802</a:t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24342" y="4601962"/>
            <a:ext cx="79220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+ existing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912776" y="2230020"/>
            <a:ext cx="8554768" cy="2708689"/>
          </a:xfrm>
          <a:prstGeom prst="rect">
            <a:avLst/>
          </a:prstGeom>
          <a:noFill/>
          <a:ln cap="flat" cmpd="sng" w="12700">
            <a:solidFill>
              <a:srgbClr val="7F7F7F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912776" y="1745931"/>
            <a:ext cx="4701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39% start to submitted application. 23% start to account open.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"/>
          <p:cNvCxnSpPr/>
          <p:nvPr/>
        </p:nvCxnSpPr>
        <p:spPr>
          <a:xfrm>
            <a:off x="4074607" y="5013354"/>
            <a:ext cx="4285622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2"/>
          <p:cNvSpPr/>
          <p:nvPr/>
        </p:nvSpPr>
        <p:spPr>
          <a:xfrm>
            <a:off x="5663325" y="5211559"/>
            <a:ext cx="1055552" cy="103569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 funnel</a:t>
            </a:r>
            <a:br>
              <a:rPr b="1" lang="en-A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(17%* lost)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"/>
          <p:cNvCxnSpPr>
            <a:endCxn id="132" idx="0"/>
          </p:cNvCxnSpPr>
          <p:nvPr/>
        </p:nvCxnSpPr>
        <p:spPr>
          <a:xfrm>
            <a:off x="6189301" y="5013259"/>
            <a:ext cx="1800" cy="1983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2"/>
          <p:cNvCxnSpPr/>
          <p:nvPr/>
        </p:nvCxnSpPr>
        <p:spPr>
          <a:xfrm>
            <a:off x="4074607" y="4601962"/>
            <a:ext cx="5024" cy="411392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2"/>
          <p:cNvCxnSpPr/>
          <p:nvPr/>
        </p:nvCxnSpPr>
        <p:spPr>
          <a:xfrm>
            <a:off x="8360229" y="4567284"/>
            <a:ext cx="3434" cy="449944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Home"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637564" y="476115"/>
            <a:ext cx="7301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5 step approach to </a:t>
            </a:r>
            <a:r>
              <a:rPr b="1"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reaching 60%+ online conversion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720841" y="1287598"/>
            <a:ext cx="6273985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Refine conversion roadmap</a:t>
            </a:r>
            <a:br>
              <a:rPr b="1"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We operate on a rolling 3 month schedule</a:t>
            </a: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 Initiatives prioritised from conversion backlog based on expected CVR impact - BRS documents delivered, development quotes completed and implementation dates confirmed.</a:t>
            </a:r>
            <a:br>
              <a:rPr lang="en-AU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monthly releases</a:t>
            </a:r>
            <a:b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Getting the improvements in </a:t>
            </a: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- deployments to TJM released as per a monthly cadence.</a:t>
            </a:r>
            <a:endParaRPr/>
          </a:p>
          <a:p>
            <a:pPr indent="-292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 processes</a:t>
            </a:r>
            <a:b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Getting under the hood </a:t>
            </a: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– review and refine internal processes, including connected third-party services (Ops, Biocatch, Equifax)</a:t>
            </a:r>
            <a:br>
              <a:rPr lang="en-AU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 quality &amp; prequalified traffic</a:t>
            </a:r>
            <a:b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Target the right audience</a:t>
            </a: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ongoing optimisation of quality traffic, ensuring an appropriate balance of volume and conversion (including CVP)</a:t>
            </a:r>
            <a:b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reporting</a:t>
            </a:r>
            <a:b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insights</a:t>
            </a: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continuous improvement of funnel tracking, moving from current state (many gaps) to desired state (end to end tracking) – exposing opportunities that identify new and drive prioritisation of initiatives. Proposal to plug most of these gaps will be provided in November.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7281119" y="1055011"/>
            <a:ext cx="4493323" cy="4337501"/>
            <a:chOff x="726806" y="446"/>
            <a:chExt cx="4493323" cy="4337501"/>
          </a:xfrm>
        </p:grpSpPr>
        <p:sp>
          <p:nvSpPr>
            <p:cNvPr id="144" name="Google Shape;144;p3"/>
            <p:cNvSpPr/>
            <p:nvPr/>
          </p:nvSpPr>
          <p:spPr>
            <a:xfrm>
              <a:off x="2318666" y="446"/>
              <a:ext cx="1309603" cy="1309603"/>
            </a:xfrm>
            <a:prstGeom prst="ellipse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2510453" y="192233"/>
              <a:ext cx="926029" cy="926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(1)</a:t>
              </a:r>
              <a:b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Refine 3 month rolling conversion roadmap</a:t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2160000">
              <a:off x="3587031" y="1006727"/>
              <a:ext cx="348763" cy="44199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 rot="2160000">
              <a:off x="3597022" y="1064375"/>
              <a:ext cx="244134" cy="26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3910526" y="1157000"/>
              <a:ext cx="1309603" cy="1309603"/>
            </a:xfrm>
            <a:prstGeom prst="ellipse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4102313" y="1348787"/>
              <a:ext cx="926029" cy="926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(2)</a:t>
              </a:r>
              <a:b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 monthly TJM releases from roadmap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 rot="6480000">
              <a:off x="4089979" y="2517090"/>
              <a:ext cx="348763" cy="44199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 rot="-4320000">
              <a:off x="4158460" y="2555734"/>
              <a:ext cx="244134" cy="26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302490" y="3028344"/>
              <a:ext cx="1309603" cy="1309603"/>
            </a:xfrm>
            <a:prstGeom prst="ellipse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3494277" y="3220131"/>
              <a:ext cx="926029" cy="926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(3)</a:t>
              </a:r>
              <a:b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Optimise processes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 rot="10800000">
              <a:off x="2808957" y="3462150"/>
              <a:ext cx="348763" cy="44199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2913586" y="3550548"/>
              <a:ext cx="244134" cy="26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1334842" y="3028344"/>
              <a:ext cx="1309603" cy="1309603"/>
            </a:xfrm>
            <a:prstGeom prst="ellipse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1526629" y="3220131"/>
              <a:ext cx="926029" cy="926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(4)</a:t>
              </a:r>
              <a:b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Optimise quality &amp; prequalified traffic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 rot="-6480000">
              <a:off x="1514295" y="2535865"/>
              <a:ext cx="348763" cy="44199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 txBox="1"/>
            <p:nvPr/>
          </p:nvSpPr>
          <p:spPr>
            <a:xfrm rot="4320000">
              <a:off x="1582776" y="2674017"/>
              <a:ext cx="244134" cy="26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726806" y="1157000"/>
              <a:ext cx="1309603" cy="1309603"/>
            </a:xfrm>
            <a:prstGeom prst="ellipse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918593" y="1348787"/>
              <a:ext cx="926029" cy="926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(5)</a:t>
              </a:r>
              <a:b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AU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Improve reporting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 rot="-2160000">
              <a:off x="1995171" y="1018331"/>
              <a:ext cx="348763" cy="44199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 rot="-2160000">
              <a:off x="2005162" y="1137479"/>
              <a:ext cx="244134" cy="26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 txBox="1"/>
          <p:nvPr/>
        </p:nvSpPr>
        <p:spPr>
          <a:xfrm>
            <a:off x="2921279" y="5297166"/>
            <a:ext cx="548687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6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+    +      = 60%</a:t>
            </a:r>
            <a:endParaRPr sz="66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3386973" y="5641470"/>
            <a:ext cx="8014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Great UX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4633287" y="5538829"/>
            <a:ext cx="10934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ID &amp; fraud processes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645300" y="5641470"/>
            <a:ext cx="14683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traffic with intent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311587" y="5687058"/>
            <a:ext cx="8066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23%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6668625" y="6220496"/>
            <a:ext cx="12277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Conversion</a:t>
            </a:r>
            <a:endParaRPr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1759444" y="6230405"/>
            <a:ext cx="1217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+25% uplift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272102" y="6102829"/>
            <a:ext cx="8802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Current start to account open</a:t>
            </a:r>
            <a:endParaRPr sz="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264932" y="5687058"/>
            <a:ext cx="868747" cy="82812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" id="173" name="Google Shape;1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1236947" y="5297166"/>
            <a:ext cx="66021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6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66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3193594" y="6248668"/>
            <a:ext cx="1217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+4% uplift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4551585" y="6243124"/>
            <a:ext cx="1217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+8% uplift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/>
        </p:nvSpPr>
        <p:spPr>
          <a:xfrm>
            <a:off x="810721" y="1836661"/>
            <a:ext cx="5740376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quality and intent of traffic, brand and product propositions all impact on our conversion rates.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Organic search traffic has the highest conversion rates due to familiarity with the brand and visiting with intent – in Sep organic search traffic to Glide converted at 56% (to submitted application). Whereas TD generic paid search has been as low as 2%.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doing about it?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Paid search is being optimised to the 60% conversion targets with strong progress – brand related ad groups are performing above 50% with optimisations continuing on generic keywords campaigns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Pre-qualification screens recently added to the website, with analysis on the impact of conversion rates underway to determine a potential tweak in the measurement framework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CVP &amp; segmentation work is progressing and will tighten our targeting &amp; messaging to potential customers.</a:t>
            </a:r>
            <a:endParaRPr/>
          </a:p>
        </p:txBody>
      </p:sp>
      <p:pic>
        <p:nvPicPr>
          <p:cNvPr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4372" y="1660849"/>
            <a:ext cx="4683301" cy="15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6768525" y="3166582"/>
            <a:ext cx="343395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AU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Online application conversion rates from organic search traffic,</a:t>
            </a:r>
            <a:br>
              <a:rPr i="1" lang="en-AU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AU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measured to submitted application</a:t>
            </a:r>
            <a:endParaRPr i="1"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450952" y="243961"/>
            <a:ext cx="1396617" cy="125598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(53% lost)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3909528" y="607350"/>
            <a:ext cx="59243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Opportunity: 53% of starts drop off early in the process</a:t>
            </a:r>
            <a:endParaRPr b="1"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me Creator - Funny I want you To convince me! Meme Generator at  MemeCreator.org!"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2881" y="3964808"/>
            <a:ext cx="1847850" cy="2476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'm Ready: Convince me otherwise! - Willy Wonka | Meme Generator" id="187" name="Google Shape;18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2155" y="4131495"/>
            <a:ext cx="2143125" cy="21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4"/>
          <p:cNvCxnSpPr/>
          <p:nvPr/>
        </p:nvCxnSpPr>
        <p:spPr>
          <a:xfrm>
            <a:off x="7128589" y="4150157"/>
            <a:ext cx="2463282" cy="205470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Home" id="189" name="Google Shape;18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9905" y="206786"/>
            <a:ext cx="1908340" cy="154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"/>
          <p:cNvSpPr txBox="1"/>
          <p:nvPr/>
        </p:nvSpPr>
        <p:spPr>
          <a:xfrm>
            <a:off x="10330920" y="6523153"/>
            <a:ext cx="179408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*% lost is relative between each stage.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/>
        </p:nvSpPr>
        <p:spPr>
          <a:xfrm>
            <a:off x="810720" y="1836661"/>
            <a:ext cx="6327198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biggest contributors to the drop out here are: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22% of customers fail the online ID process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15% of customers receive a 1,000+ Biocatch score and are rejected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also still have an issue with new to bank joint bonus saver accounts that fail to open through straight through processing.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doing about it?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Investigating alternative paths for those that fail ID –(e.g. Digital ID)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deep dive into Biocatch and related processes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to bank joint bonus saver account fix to be implemented in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more granular tracking of ID and other failure reasons (linking back to traffic driving sources)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Longer term strategic view – monitoring uptake of new national digital ID solutions (to get on board when adoption rate is approaching tipping point)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50952" y="243961"/>
            <a:ext cx="1396617" cy="125598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 opening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(40%* lost)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3999423" y="641122"/>
            <a:ext cx="88413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Opportunity: 40% of submitted apps don’t result in an open account</a:t>
            </a:r>
            <a:endParaRPr b="1"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633" y="1585816"/>
            <a:ext cx="42767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" id="200" name="Google Shape;2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644" y="112304"/>
            <a:ext cx="1916675" cy="161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/>
        </p:nvSpPr>
        <p:spPr>
          <a:xfrm>
            <a:off x="10330920" y="6523153"/>
            <a:ext cx="179408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*% lost is relative between each stage.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/>
        </p:nvSpPr>
        <p:spPr>
          <a:xfrm>
            <a:off x="810720" y="1836661"/>
            <a:ext cx="5412797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only 18% of opened accounts being activated this leaves an opportunity to activate the remaining 82%.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41% of new to bank customer accounts are marked as suspected fraud (with accounts in limbo, customers unable to transfer in or out), meaning half our opportunity is taken away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real-time notification to NPP of the new accounts - customers attempting to transfer funds in immediately will fail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doing about it?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deep dive into Biocatch and related processes, with recommendations to follow in November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NPP real-time currently scheduled for April 2025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 to on-boarding journey for full details</a:t>
            </a:r>
            <a:endParaRPr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0952" y="243961"/>
            <a:ext cx="1396617" cy="125598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(82%* lost)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3999423" y="641122"/>
            <a:ext cx="88413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Opportunity: Only 18% of opened accounts are activated</a:t>
            </a:r>
            <a:endParaRPr b="1"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isk aversion Memes &amp; GIFs - Imgflip" id="210" name="Google Shape;2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8119" y="1660848"/>
            <a:ext cx="4197318" cy="3453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" id="211" name="Google Shape;2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8137" y="132228"/>
            <a:ext cx="1951286" cy="161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 txBox="1"/>
          <p:nvPr/>
        </p:nvSpPr>
        <p:spPr>
          <a:xfrm>
            <a:off x="10330920" y="6523153"/>
            <a:ext cx="183415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*% lost is relative between each stage.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/>
        </p:nvSpPr>
        <p:spPr>
          <a:xfrm>
            <a:off x="689430" y="1843920"/>
            <a:ext cx="5806250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b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indicates that once consumers have committed and progressed through the application there is relatively smaller drop off to submitting the application.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highest loss in this part of the funnel is on the ID details section. Most users abandoning are interacting at 96%, with 6% leaving with no form field interaction. Of those that interacted the driver’s licence card number was the top abandonment field at 42%, followed by 13% on passport country of issue.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highest loss in this part of the funnel is on personal details, which may also be related to lack of willingness to commit. 29% are leaving without any form interaction. Of those that do interact the address field is highest at 24%, with everything else fairly evenly spread.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doing about it?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rolling out monthly TJM releases containing UX and process improvements, prioritised based on drop-off and interaction insights – with a particular focus on the ID section.</a:t>
            </a:r>
            <a:endParaRPr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0952" y="243961"/>
            <a:ext cx="1396617" cy="1255989"/>
          </a:xfrm>
          <a:prstGeom prst="ellipse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 funnel</a:t>
            </a:r>
            <a:b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(17%* lost)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5132898" y="641122"/>
            <a:ext cx="68876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Opportunity: 17% of those that continue past start fail to submit</a:t>
            </a:r>
            <a:endParaRPr b="1"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7"/>
          <p:cNvGrpSpPr/>
          <p:nvPr/>
        </p:nvGrpSpPr>
        <p:grpSpPr>
          <a:xfrm>
            <a:off x="6593944" y="1948454"/>
            <a:ext cx="5231433" cy="380467"/>
            <a:chOff x="2556" y="2519099"/>
            <a:chExt cx="5231433" cy="380467"/>
          </a:xfrm>
        </p:grpSpPr>
        <p:sp>
          <p:nvSpPr>
            <p:cNvPr id="222" name="Google Shape;222;p7"/>
            <p:cNvSpPr/>
            <p:nvPr/>
          </p:nvSpPr>
          <p:spPr>
            <a:xfrm>
              <a:off x="2556" y="2519099"/>
              <a:ext cx="951169" cy="380467"/>
            </a:xfrm>
            <a:prstGeom prst="chevron">
              <a:avLst>
                <a:gd fmla="val 50000" name="adj"/>
              </a:avLst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192790" y="2519099"/>
              <a:ext cx="570702" cy="380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00" lIns="36000" spcFirstLastPara="1" rIns="12000" wrap="square" tIns="12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Personal details</a:t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858609" y="2519099"/>
              <a:ext cx="951169" cy="380467"/>
            </a:xfrm>
            <a:prstGeom prst="chevron">
              <a:avLst>
                <a:gd fmla="val 50000" name="adj"/>
              </a:avLst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1048843" y="2519099"/>
              <a:ext cx="570702" cy="380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00" lIns="36000" spcFirstLastPara="1" rIns="12000" wrap="square" tIns="12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TFN</a:t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1714662" y="2519099"/>
              <a:ext cx="951169" cy="380467"/>
            </a:xfrm>
            <a:prstGeom prst="chevron">
              <a:avLst>
                <a:gd fmla="val 50000" name="adj"/>
              </a:avLst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 txBox="1"/>
            <p:nvPr/>
          </p:nvSpPr>
          <p:spPr>
            <a:xfrm>
              <a:off x="1904896" y="2519099"/>
              <a:ext cx="570702" cy="380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00" lIns="36000" spcFirstLastPara="1" rIns="12000" wrap="square" tIns="12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 of income</a:t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2570715" y="2519099"/>
              <a:ext cx="951169" cy="380467"/>
            </a:xfrm>
            <a:prstGeom prst="chevron">
              <a:avLst>
                <a:gd fmla="val 50000" name="adj"/>
              </a:avLst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2760949" y="2519099"/>
              <a:ext cx="570702" cy="380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00" lIns="36000" spcFirstLastPara="1" rIns="12000" wrap="square" tIns="12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Check your details</a:t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3426767" y="2519099"/>
              <a:ext cx="951169" cy="380467"/>
            </a:xfrm>
            <a:prstGeom prst="chevron">
              <a:avLst>
                <a:gd fmla="val 50000" name="adj"/>
              </a:avLst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3617001" y="2519099"/>
              <a:ext cx="570702" cy="380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00" lIns="36000" spcFirstLastPara="1" rIns="12000" wrap="square" tIns="12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 details</a:t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282820" y="2519099"/>
              <a:ext cx="951169" cy="380467"/>
            </a:xfrm>
            <a:prstGeom prst="chevron">
              <a:avLst>
                <a:gd fmla="val 50000" name="adj"/>
              </a:avLst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 txBox="1"/>
            <p:nvPr/>
          </p:nvSpPr>
          <p:spPr>
            <a:xfrm>
              <a:off x="4473054" y="2519099"/>
              <a:ext cx="570702" cy="380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00" lIns="36000" spcFirstLastPara="1" rIns="12000" wrap="square" tIns="12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Submit</a:t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7"/>
          <p:cNvSpPr txBox="1"/>
          <p:nvPr/>
        </p:nvSpPr>
        <p:spPr>
          <a:xfrm>
            <a:off x="7078878" y="2388633"/>
            <a:ext cx="64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7% lost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7920787" y="2388632"/>
            <a:ext cx="7648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0.2% lost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8826822" y="2388631"/>
            <a:ext cx="64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2% lost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9723526" y="2388630"/>
            <a:ext cx="64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1% lost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10517083" y="2388629"/>
            <a:ext cx="7231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lost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8060275" y="1555406"/>
            <a:ext cx="23484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lost, relative to each stage: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0074" y="3394260"/>
            <a:ext cx="3451485" cy="2857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"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938" y="132228"/>
            <a:ext cx="1442811" cy="50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3495" y="236522"/>
            <a:ext cx="2951335" cy="12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9619721" y="6523153"/>
            <a:ext cx="25058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*% lost is relative between personal details and submit.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2024-10-21T23:28:22Z</dcterms:created>
  <dc:creator>Scott, Aaron</dc:creator>
</cp:coreProperties>
</file>